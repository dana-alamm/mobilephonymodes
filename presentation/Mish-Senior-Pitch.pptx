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</p:sldIdLst>
  <p:notesMasterIdLst>
    <p:notesMasterId r:id="rId11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notesMaster" Target="notesMasters/notesMaster1.xml"/><Relationship Id="rId12" Type="http://schemas.openxmlformats.org/officeDocument/2006/relationships/presProps" Target="presProps.xml"/><Relationship Id="rId13" Type="http://schemas.openxmlformats.org/officeDocument/2006/relationships/viewProps" Target="viewProps.xml"/><Relationship Id="rId14" Type="http://schemas.openxmlformats.org/officeDocument/2006/relationships/theme" Target="theme/theme1.xml"/><Relationship Id="rId1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// PROBLEM · 20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01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graduates can't get a first IT job.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Every job asks for experience.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drown in CVs.</a:t>
            </a:r>
            <a:endParaRPr lang="en-US" sz="2600" dirty="0"/>
          </a:p>
        </p:txBody>
      </p:sp>
      <p:sp>
        <p:nvSpPr>
          <p:cNvPr id="11" name="Shape 9"/>
          <p:cNvSpPr/>
          <p:nvPr/>
        </p:nvSpPr>
        <p:spPr>
          <a:xfrm>
            <a:off x="777240" y="491032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2" name="Text 10"/>
          <p:cNvSpPr/>
          <p:nvPr/>
        </p:nvSpPr>
        <p:spPr>
          <a:xfrm>
            <a:off x="1188720" y="475488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Skills stay hidden behind a piece of paper.</a:t>
            </a:r>
            <a:endParaRPr lang="en-US" sz="26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// IMPACT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02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Talent is wasted. Hiring is slow.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GRADUATES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 fair chance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skills, not CV lines.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Verified scores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See real results before the first call.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HIRING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Faster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Filter by skill and score in seconds.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// SOLUTION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03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Assess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Pick up to 2 skills. 10 questions. Pass at 5/10.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43891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46634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2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46634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Interview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46634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Voice interviews in Arabic or English. HR and technical.</a:t>
            </a:r>
            <a:endParaRPr lang="en-US" sz="1700" dirty="0"/>
          </a:p>
        </p:txBody>
      </p:sp>
      <p:sp>
        <p:nvSpPr>
          <p:cNvPr id="15" name="Shape 13"/>
          <p:cNvSpPr/>
          <p:nvPr/>
        </p:nvSpPr>
        <p:spPr>
          <a:xfrm>
            <a:off x="8046720" y="3017520"/>
            <a:ext cx="3383280" cy="2377440"/>
          </a:xfrm>
          <a:prstGeom prst="roundRect">
            <a:avLst>
              <a:gd name="adj" fmla="val 6923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6" name="Text 14"/>
          <p:cNvSpPr/>
          <p:nvPr/>
        </p:nvSpPr>
        <p:spPr>
          <a:xfrm>
            <a:off x="8321040" y="3200400"/>
            <a:ext cx="2834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STEP 3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8321040" y="3520440"/>
            <a:ext cx="28346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Get hired</a:t>
            </a:r>
            <a:endParaRPr lang="en-US" sz="2400" dirty="0"/>
          </a:p>
        </p:txBody>
      </p:sp>
      <p:sp>
        <p:nvSpPr>
          <p:cNvPr id="18" name="Text 16"/>
          <p:cNvSpPr/>
          <p:nvPr/>
        </p:nvSpPr>
        <p:spPr>
          <a:xfrm>
            <a:off x="8321040" y="4114800"/>
            <a:ext cx="2834640" cy="10972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700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filter, view scores, invite and chat.</a:t>
            </a:r>
            <a:endParaRPr lang="en-US" sz="1700" dirty="0"/>
          </a:p>
        </p:txBody>
      </p:sp>
      <p:sp>
        <p:nvSpPr>
          <p:cNvPr id="19" name="Text 17"/>
          <p:cNvSpPr/>
          <p:nvPr/>
        </p:nvSpPr>
        <p:spPr>
          <a:xfrm>
            <a:off x="731520" y="566928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AI SCORING BY GOOGLE GEMINI</a:t>
            </a:r>
            <a:endParaRPr lang="en-US" sz="11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// DEMO · 60 SEC · RECORDED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04 / 09</a:t>
            </a:r>
            <a:endParaRPr lang="en-US" sz="1000" dirty="0"/>
          </a:p>
        </p:txBody>
      </p:sp>
      <p:sp>
        <p:nvSpPr>
          <p:cNvPr id="5" name="Shape 3"/>
          <p:cNvSpPr/>
          <p:nvPr/>
        </p:nvSpPr>
        <p:spPr>
          <a:xfrm>
            <a:off x="731520" y="1645920"/>
            <a:ext cx="10725912" cy="4480560"/>
          </a:xfrm>
          <a:prstGeom prst="roundRect">
            <a:avLst>
              <a:gd name="adj" fmla="val 4082"/>
            </a:avLst>
          </a:prstGeom>
          <a:solidFill>
            <a:srgbClr val="FFFFFF"/>
          </a:solidFill>
          <a:ln w="25400">
            <a:solidFill>
              <a:srgbClr val="CBD5D0"/>
            </a:solidFill>
            <a:prstDash val="dash"/>
          </a:ln>
        </p:spPr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Competitors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COMPETITOR 1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Platforms like Turing are built to filter out junior talent and focus only on Seniors.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OUR GAP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give fresh graduates a fair chance to prove their skills through smart, conversational AI assessments rather than stressful algorithm exams.</a:t>
            </a:r>
            <a:endParaRPr lang="en-US" sz="18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05 // MARKET · POSITIONING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188720"/>
            <a:ext cx="73152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Market &amp; Competitors</a:t>
            </a:r>
            <a:endParaRPr lang="en-US" sz="3800" dirty="0"/>
          </a:p>
        </p:txBody>
      </p:sp>
      <p:sp>
        <p:nvSpPr>
          <p:cNvPr id="6" name="Shape 4"/>
          <p:cNvSpPr/>
          <p:nvPr/>
        </p:nvSpPr>
        <p:spPr>
          <a:xfrm>
            <a:off x="731520" y="228600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731520" y="237744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WHO</a:t>
            </a:r>
            <a:endParaRPr lang="en-US" sz="1100" dirty="0"/>
          </a:p>
        </p:txBody>
      </p:sp>
      <p:sp>
        <p:nvSpPr>
          <p:cNvPr id="8" name="Text 6"/>
          <p:cNvSpPr/>
          <p:nvPr/>
        </p:nvSpPr>
        <p:spPr>
          <a:xfrm>
            <a:off x="731520" y="269748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Fresh IT graduates</a:t>
            </a:r>
            <a:endParaRPr lang="en-US" sz="1800" dirty="0"/>
          </a:p>
        </p:txBody>
      </p:sp>
      <p:sp>
        <p:nvSpPr>
          <p:cNvPr id="9" name="Shape 7"/>
          <p:cNvSpPr/>
          <p:nvPr/>
        </p:nvSpPr>
        <p:spPr>
          <a:xfrm>
            <a:off x="731520" y="352044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731520" y="361188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JORDAN FIRST</a:t>
            </a:r>
            <a:endParaRPr lang="en-US" sz="1100" dirty="0"/>
          </a:p>
        </p:txBody>
      </p:sp>
      <p:sp>
        <p:nvSpPr>
          <p:cNvPr id="11" name="Text 9"/>
          <p:cNvSpPr/>
          <p:nvPr/>
        </p:nvSpPr>
        <p:spPr>
          <a:xfrm>
            <a:off x="731520" y="393192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4,500+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ICT Graduates</a:t>
            </a:r>
            <a:endParaRPr lang="en-US" sz="2400" dirty="0"/>
          </a:p>
        </p:txBody>
      </p:sp>
      <p:sp>
        <p:nvSpPr>
          <p:cNvPr id="12" name="Shape 10"/>
          <p:cNvSpPr/>
          <p:nvPr/>
        </p:nvSpPr>
        <p:spPr>
          <a:xfrm>
            <a:off x="731520" y="4754880"/>
            <a:ext cx="3291840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731520" y="4846320"/>
            <a:ext cx="3291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MENA NEXT</a:t>
            </a:r>
            <a:endParaRPr lang="en-US" sz="1100" dirty="0"/>
          </a:p>
        </p:txBody>
      </p:sp>
      <p:sp>
        <p:nvSpPr>
          <p:cNvPr id="14" name="Text 12"/>
          <p:cNvSpPr/>
          <p:nvPr/>
        </p:nvSpPr>
        <p:spPr>
          <a:xfrm>
            <a:off x="731520" y="5166360"/>
            <a:ext cx="33832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100,000+ </a:t>
            </a:r>
            <a:pPr indent="0" marL="0">
              <a:buNone/>
            </a:pPr>
            <a:r>
              <a:rPr lang="en-US" sz="18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Annual IT Graduates</a:t>
            </a:r>
            <a:endParaRPr lang="en-US" sz="2400" dirty="0"/>
          </a:p>
        </p:txBody>
      </p:sp>
      <p:sp>
        <p:nvSpPr>
          <p:cNvPr id="15" name="Text 13"/>
          <p:cNvSpPr/>
          <p:nvPr/>
        </p:nvSpPr>
        <p:spPr>
          <a:xfrm>
            <a:off x="4297680" y="1371600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↑ CONVERSATIONAL AI ASSESSMENT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297680" y="1783080"/>
            <a:ext cx="7159752" cy="4069080"/>
          </a:xfrm>
          <a:prstGeom prst="roundRect">
            <a:avLst>
              <a:gd name="adj" fmla="val 3371"/>
            </a:avLst>
          </a:prstGeom>
          <a:solidFill>
            <a:srgbClr val="FFFFFF"/>
          </a:solidFill>
          <a:ln w="19050">
            <a:solidFill>
              <a:srgbClr val="CBD5D0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0000"/>
              </a:srgbClr>
            </a:outerShdw>
          </a:effectLst>
        </p:spPr>
      </p:sp>
      <p:sp>
        <p:nvSpPr>
          <p:cNvPr id="17" name="Shape 15"/>
          <p:cNvSpPr/>
          <p:nvPr/>
        </p:nvSpPr>
        <p:spPr>
          <a:xfrm>
            <a:off x="7877556" y="1783080"/>
            <a:ext cx="0" cy="406908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8" name="Shape 16"/>
          <p:cNvSpPr/>
          <p:nvPr/>
        </p:nvSpPr>
        <p:spPr>
          <a:xfrm>
            <a:off x="4297680" y="3817620"/>
            <a:ext cx="7159752" cy="0"/>
          </a:xfrm>
          <a:prstGeom prst="line">
            <a:avLst/>
          </a:prstGeom>
          <a:noFill/>
          <a:ln w="12700">
            <a:solidFill>
              <a:srgbClr val="CBD5D0"/>
            </a:solidFill>
            <a:prstDash val="dash"/>
          </a:ln>
        </p:spPr>
      </p:sp>
      <p:sp>
        <p:nvSpPr>
          <p:cNvPr id="19" name="Text 17"/>
          <p:cNvSpPr/>
          <p:nvPr/>
        </p:nvSpPr>
        <p:spPr>
          <a:xfrm>
            <a:off x="493776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KARAT</a:t>
            </a:r>
            <a:endParaRPr lang="en-US" sz="1200" dirty="0"/>
          </a:p>
        </p:txBody>
      </p:sp>
      <p:sp>
        <p:nvSpPr>
          <p:cNvPr id="20" name="Text 18"/>
          <p:cNvSpPr/>
          <p:nvPr/>
        </p:nvSpPr>
        <p:spPr>
          <a:xfrm>
            <a:off x="9144000" y="2468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0F9F6E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200" dirty="0"/>
          </a:p>
        </p:txBody>
      </p:sp>
      <p:sp>
        <p:nvSpPr>
          <p:cNvPr id="21" name="Text 19"/>
          <p:cNvSpPr/>
          <p:nvPr/>
        </p:nvSpPr>
        <p:spPr>
          <a:xfrm>
            <a:off x="493776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TURING</a:t>
            </a:r>
            <a:endParaRPr lang="en-US" sz="1200" dirty="0"/>
          </a:p>
        </p:txBody>
      </p:sp>
      <p:sp>
        <p:nvSpPr>
          <p:cNvPr id="22" name="Text 20"/>
          <p:cNvSpPr/>
          <p:nvPr/>
        </p:nvSpPr>
        <p:spPr>
          <a:xfrm>
            <a:off x="9144000" y="4754880"/>
            <a:ext cx="1737360" cy="411480"/>
          </a:xfrm>
          <a:prstGeom prst="roundRect">
            <a:avLst>
              <a:gd name="adj" fmla="val 26667"/>
            </a:avLst>
          </a:prstGeom>
          <a:solidFill>
            <a:srgbClr val="EEF2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33333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HACKERRANK</a:t>
            </a:r>
            <a:endParaRPr lang="en-US" sz="1200" dirty="0"/>
          </a:p>
        </p:txBody>
      </p:sp>
      <p:sp>
        <p:nvSpPr>
          <p:cNvPr id="23" name="Text 21"/>
          <p:cNvSpPr/>
          <p:nvPr/>
        </p:nvSpPr>
        <p:spPr>
          <a:xfrm>
            <a:off x="4297680" y="5943600"/>
            <a:ext cx="7159752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← SENIORS ONLY          FOR FRESH GRADUATES →</a:t>
            </a:r>
            <a:endParaRPr lang="en-US" sz="10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06 // BUSINESS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Companies pay. Graduates start free.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BASIC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 JOD / month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Browse and filter candidates. Limited invites.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PREMIUM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 JOD / month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Unlimited invites. Priority access to new candidates.</a:t>
            </a:r>
            <a:endParaRPr lang="en-US" sz="1800" dirty="0"/>
          </a:p>
        </p:txBody>
      </p:sp>
      <p:sp>
        <p:nvSpPr>
          <p:cNvPr id="15" name="Text 13"/>
          <p:cNvSpPr/>
          <p:nvPr/>
        </p:nvSpPr>
        <p:spPr>
          <a:xfrm>
            <a:off x="731520" y="5989320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Demo note: payments are simulated.</a:t>
            </a:r>
            <a:endParaRPr lang="en-US" sz="10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07 // TEAM · 10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team.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31520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12700">
            <a:solidFill>
              <a:srgbClr val="E3E9E6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8" name="Text 6"/>
          <p:cNvSpPr/>
          <p:nvPr/>
        </p:nvSpPr>
        <p:spPr>
          <a:xfrm>
            <a:off x="1005840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100" dirty="0"/>
          </a:p>
        </p:txBody>
      </p:sp>
      <p:sp>
        <p:nvSpPr>
          <p:cNvPr id="9" name="Text 7"/>
          <p:cNvSpPr/>
          <p:nvPr/>
        </p:nvSpPr>
        <p:spPr>
          <a:xfrm>
            <a:off x="1005840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Dana Alamm</a:t>
            </a:r>
            <a:endParaRPr lang="en-US" sz="2400" dirty="0"/>
          </a:p>
        </p:txBody>
      </p:sp>
      <p:sp>
        <p:nvSpPr>
          <p:cNvPr id="10" name="Text 8"/>
          <p:cNvSpPr/>
          <p:nvPr/>
        </p:nvSpPr>
        <p:spPr>
          <a:xfrm>
            <a:off x="1005840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800" dirty="0"/>
          </a:p>
        </p:txBody>
      </p:sp>
      <p:sp>
        <p:nvSpPr>
          <p:cNvPr id="11" name="Shape 9"/>
          <p:cNvSpPr/>
          <p:nvPr/>
        </p:nvSpPr>
        <p:spPr>
          <a:xfrm>
            <a:off x="6153912" y="3017520"/>
            <a:ext cx="5303520" cy="2926080"/>
          </a:xfrm>
          <a:prstGeom prst="roundRect">
            <a:avLst>
              <a:gd name="adj" fmla="val 6250"/>
            </a:avLst>
          </a:prstGeom>
          <a:solidFill>
            <a:srgbClr val="FFFFFF"/>
          </a:solidFill>
          <a:ln w="25400">
            <a:solidFill>
              <a:srgbClr val="0F9F6E"/>
            </a:solidFill>
            <a:prstDash val="solid"/>
          </a:ln>
          <a:effectLst>
            <a:outerShdw sx="100000" sy="100000" kx="0" ky="0" algn="bl" rotWithShape="0" blurRad="127000" dist="38100" dir="5400000">
              <a:srgbClr val="103020">
                <a:alpha val="12000"/>
              </a:srgbClr>
            </a:outerShdw>
          </a:effectLst>
        </p:spPr>
      </p:sp>
      <p:sp>
        <p:nvSpPr>
          <p:cNvPr id="12" name="Text 10"/>
          <p:cNvSpPr/>
          <p:nvPr/>
        </p:nvSpPr>
        <p:spPr>
          <a:xfrm>
            <a:off x="6428232" y="3246120"/>
            <a:ext cx="4754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6428232" y="3566160"/>
            <a:ext cx="47548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Alaa Qtishat</a:t>
            </a:r>
            <a:endParaRPr lang="en-US" sz="2400" dirty="0"/>
          </a:p>
        </p:txBody>
      </p:sp>
      <p:sp>
        <p:nvSpPr>
          <p:cNvPr id="14" name="Text 12"/>
          <p:cNvSpPr/>
          <p:nvPr/>
        </p:nvSpPr>
        <p:spPr>
          <a:xfrm>
            <a:off x="6428232" y="4160520"/>
            <a:ext cx="4754880" cy="1645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Mobile app developer</a:t>
            </a:r>
            <a:endParaRPr lang="en-US" sz="18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7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731520" y="640080"/>
            <a:ext cx="5029200" cy="365760"/>
          </a:xfrm>
          <a:prstGeom prst="roundRect">
            <a:avLst>
              <a:gd name="adj" fmla="val 50000"/>
            </a:avLst>
          </a:prstGeom>
          <a:solidFill>
            <a:srgbClr val="E8F7F0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spc="200" kern="0" dirty="0">
                <a:solidFill>
                  <a:srgbClr val="0B8A5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08 // THE ASK · 15 SEC</a:t>
            </a:r>
            <a:endParaRPr lang="en-US" sz="1200" dirty="0"/>
          </a:p>
        </p:txBody>
      </p:sp>
      <p:sp>
        <p:nvSpPr>
          <p:cNvPr id="3" name="Text 1"/>
          <p:cNvSpPr/>
          <p:nvPr/>
        </p:nvSpPr>
        <p:spPr>
          <a:xfrm>
            <a:off x="73152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</a:t>
            </a:r>
            <a:endParaRPr lang="en-US" sz="1000" dirty="0"/>
          </a:p>
        </p:txBody>
      </p:sp>
      <p:sp>
        <p:nvSpPr>
          <p:cNvPr id="4" name="Text 2"/>
          <p:cNvSpPr/>
          <p:nvPr/>
        </p:nvSpPr>
        <p:spPr>
          <a:xfrm>
            <a:off x="8686800" y="640080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5F6F68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09 / 09</a:t>
            </a:r>
            <a:endParaRPr lang="en-US" sz="1000" dirty="0"/>
          </a:p>
        </p:txBody>
      </p:sp>
      <p:sp>
        <p:nvSpPr>
          <p:cNvPr id="5" name="Text 3"/>
          <p:cNvSpPr/>
          <p:nvPr/>
        </p:nvSpPr>
        <p:spPr>
          <a:xfrm>
            <a:off x="731520" y="1508760"/>
            <a:ext cx="10698480" cy="11887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44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Help us reach first jobs.</a:t>
            </a:r>
            <a:endParaRPr lang="en-US" sz="4400" dirty="0"/>
          </a:p>
        </p:txBody>
      </p:sp>
      <p:sp>
        <p:nvSpPr>
          <p:cNvPr id="6" name="Shape 4"/>
          <p:cNvSpPr/>
          <p:nvPr/>
        </p:nvSpPr>
        <p:spPr>
          <a:xfrm>
            <a:off x="731520" y="2743200"/>
            <a:ext cx="10725912" cy="0"/>
          </a:xfrm>
          <a:prstGeom prst="line">
            <a:avLst/>
          </a:prstGeom>
          <a:noFill/>
          <a:ln w="19050">
            <a:solidFill>
              <a:srgbClr val="CBD5D0"/>
            </a:solidFill>
            <a:prstDash val="solid"/>
          </a:ln>
        </p:spPr>
      </p:sp>
      <p:sp>
        <p:nvSpPr>
          <p:cNvPr id="7" name="Shape 5"/>
          <p:cNvSpPr/>
          <p:nvPr/>
        </p:nvSpPr>
        <p:spPr>
          <a:xfrm>
            <a:off x="777240" y="317296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8" name="Text 6"/>
          <p:cNvSpPr/>
          <p:nvPr/>
        </p:nvSpPr>
        <p:spPr>
          <a:xfrm>
            <a:off x="1188720" y="301752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Pilot companies to hire from.</a:t>
            </a:r>
            <a:endParaRPr lang="en-US" sz="2600" dirty="0"/>
          </a:p>
        </p:txBody>
      </p:sp>
      <p:sp>
        <p:nvSpPr>
          <p:cNvPr id="9" name="Shape 7"/>
          <p:cNvSpPr/>
          <p:nvPr/>
        </p:nvSpPr>
        <p:spPr>
          <a:xfrm>
            <a:off x="777240" y="4041648"/>
            <a:ext cx="201168" cy="201168"/>
          </a:xfrm>
          <a:prstGeom prst="ellipse">
            <a:avLst/>
          </a:prstGeom>
          <a:solidFill>
            <a:srgbClr val="0F9F6E"/>
          </a:solidFill>
          <a:ln w="12700">
            <a:solidFill>
              <a:srgbClr val="0F9F6E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1188720" y="3886200"/>
            <a:ext cx="1005840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Mentors and feedback.</a:t>
            </a:r>
            <a:endParaRPr lang="en-US" sz="2600" dirty="0"/>
          </a:p>
        </p:txBody>
      </p:sp>
      <p:sp>
        <p:nvSpPr>
          <p:cNvPr id="11" name="Text 9"/>
          <p:cNvSpPr/>
          <p:nvPr/>
        </p:nvSpPr>
        <p:spPr>
          <a:xfrm>
            <a:off x="731520" y="4937760"/>
            <a:ext cx="1069848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0F1F1A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Mish Senior. </a:t>
            </a:r>
            <a:pPr indent="0" marL="0">
              <a:buNone/>
            </a:pPr>
            <a:r>
              <a:rPr lang="en-US" sz="3600" b="1" dirty="0">
                <a:solidFill>
                  <a:srgbClr val="0F9F6E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Prove it. Get seen.</a:t>
            </a:r>
            <a:endParaRPr lang="en-US" sz="36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9</Slides>
  <Notes>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9</vt:i4>
      </vt:variant>
    </vt:vector>
  </HeadingPairs>
  <TitlesOfParts>
    <vt:vector size="1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2026-10-11T09:42:51Z</dcterms:created>
  <dcterms:modified xsi:type="dcterms:W3CDTF">2026-10-11T09:42:51Z</dcterms:modified>
</cp:coreProperties>
</file>