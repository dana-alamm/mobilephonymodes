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029200" cy="365760"/>
          </a:xfrm>
          <a:prstGeom prst="roundRect">
            <a:avLst>
              <a:gd name="adj" fmla="val 50000"/>
            </a:avLst>
          </a:prstGeom>
          <a:solidFill>
            <a:srgbClr val="E8F7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B8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// PROBLEM · 20 SEC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MISH SENIOR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graduates can't get a first IT job.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0725912" cy="0"/>
          </a:xfrm>
          <a:prstGeom prst="line">
            <a:avLst/>
          </a:prstGeom>
          <a:noFill/>
          <a:ln w="19050">
            <a:solidFill>
              <a:srgbClr val="CBD5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3172968"/>
            <a:ext cx="201168" cy="201168"/>
          </a:xfrm>
          <a:prstGeom prst="ellipse">
            <a:avLst/>
          </a:prstGeom>
          <a:solidFill>
            <a:srgbClr val="0F9F6E"/>
          </a:solidFill>
          <a:ln w="12700">
            <a:solidFill>
              <a:srgbClr val="0F9F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017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job asks for experience.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77240" y="4041648"/>
            <a:ext cx="201168" cy="201168"/>
          </a:xfrm>
          <a:prstGeom prst="ellipse">
            <a:avLst/>
          </a:prstGeom>
          <a:solidFill>
            <a:srgbClr val="0F9F6E"/>
          </a:solidFill>
          <a:ln w="12700">
            <a:solidFill>
              <a:srgbClr val="0F9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8862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drown in CVs.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77240" y="4910328"/>
            <a:ext cx="201168" cy="201168"/>
          </a:xfrm>
          <a:prstGeom prst="ellipse">
            <a:avLst/>
          </a:prstGeom>
          <a:solidFill>
            <a:srgbClr val="0F9F6E"/>
          </a:solidFill>
          <a:ln w="12700">
            <a:solidFill>
              <a:srgbClr val="0F9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47548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stay hidden behind a piece of paper.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029200" cy="365760"/>
          </a:xfrm>
          <a:prstGeom prst="roundRect">
            <a:avLst>
              <a:gd name="adj" fmla="val 50000"/>
            </a:avLst>
          </a:prstGeom>
          <a:solidFill>
            <a:srgbClr val="E8F7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B8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// IMPACT · 15 SEC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MISH SENIOR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is wasted. Hiring is slow.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0725912" cy="0"/>
          </a:xfrm>
          <a:prstGeom prst="line">
            <a:avLst/>
          </a:prstGeom>
          <a:noFill/>
          <a:ln w="19050">
            <a:solidFill>
              <a:srgbClr val="CBD5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017520"/>
            <a:ext cx="338328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10302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3200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520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fair chance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41148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skills, not CV lines.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89120" y="3017520"/>
            <a:ext cx="338328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10302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3200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scores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41148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real results before the first call.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46720" y="3017520"/>
            <a:ext cx="338328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10302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21040" y="3200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3520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21040" y="41148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skill and score in seconds.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029200" cy="365760"/>
          </a:xfrm>
          <a:prstGeom prst="roundRect">
            <a:avLst>
              <a:gd name="adj" fmla="val 50000"/>
            </a:avLst>
          </a:prstGeom>
          <a:solidFill>
            <a:srgbClr val="E8F7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B8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// SOLUTION · 15 SEC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MISH SENIOR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Mish Senior.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0725912" cy="0"/>
          </a:xfrm>
          <a:prstGeom prst="line">
            <a:avLst/>
          </a:prstGeom>
          <a:noFill/>
          <a:ln w="19050">
            <a:solidFill>
              <a:srgbClr val="CBD5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017520"/>
            <a:ext cx="338328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10302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3200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520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41148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up to 2 skills. 10 questions. Pass at 5/10.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89120" y="3017520"/>
            <a:ext cx="338328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10302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3200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41148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interviews in Arabic or English. HR and technical.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46720" y="3017520"/>
            <a:ext cx="338328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10302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21040" y="3200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3520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hired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21040" y="41148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filter, view scores, invite and chat.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" y="5669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SCORING BY GOOGLE GEMINI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029200" cy="365760"/>
          </a:xfrm>
          <a:prstGeom prst="roundRect">
            <a:avLst>
              <a:gd name="adj" fmla="val 50000"/>
            </a:avLst>
          </a:prstGeom>
          <a:solidFill>
            <a:srgbClr val="E8F7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B8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// DEMO · 60 SEC · RECORDED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MISH SENIOR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725912" cy="448056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25400">
            <a:solidFill>
              <a:srgbClr val="CBD5D0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029200" cy="365760"/>
          </a:xfrm>
          <a:prstGeom prst="roundRect">
            <a:avLst>
              <a:gd name="adj" fmla="val 50000"/>
            </a:avLst>
          </a:prstGeom>
          <a:solidFill>
            <a:srgbClr val="E8F7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B8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// MARKET · 15 SEC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MISH SENIOR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0725912" cy="0"/>
          </a:xfrm>
          <a:prstGeom prst="line">
            <a:avLst/>
          </a:prstGeom>
          <a:noFill/>
          <a:ln w="19050">
            <a:solidFill>
              <a:srgbClr val="CBD5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017520"/>
            <a:ext cx="5303520" cy="2926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10302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3246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Turing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41605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like Turing are built to filter out junior talent and focus only on Seniors.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53912" y="3017520"/>
            <a:ext cx="5303520" cy="2926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0F9F6E"/>
            </a:solidFill>
            <a:prstDash val="solid"/>
          </a:ln>
          <a:effectLst>
            <a:outerShdw sx="100000" sy="100000" kx="0" ky="0" algn="bl" rotWithShape="0" blurRad="127000" dist="38100" dir="5400000">
              <a:srgbClr val="10302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3246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3566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Mish Senior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28232" y="41605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give fresh graduates a fair chance to prove their skills through smart, conversational AI assessments rather than stressful algorithm exams.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029200" cy="365760"/>
          </a:xfrm>
          <a:prstGeom prst="roundRect">
            <a:avLst>
              <a:gd name="adj" fmla="val 50000"/>
            </a:avLst>
          </a:prstGeom>
          <a:solidFill>
            <a:srgbClr val="E8F7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B8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// BUSINESS · 15 SEC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MISH SENIOR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pay. Graduates start free.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0725912" cy="0"/>
          </a:xfrm>
          <a:prstGeom prst="line">
            <a:avLst/>
          </a:prstGeom>
          <a:noFill/>
          <a:ln w="19050">
            <a:solidFill>
              <a:srgbClr val="CBD5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017520"/>
            <a:ext cx="5303520" cy="2926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10302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3246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JOD / month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41605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and filter candidates. Limited invites.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53912" y="3017520"/>
            <a:ext cx="5303520" cy="2926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0F9F6E"/>
            </a:solidFill>
            <a:prstDash val="solid"/>
          </a:ln>
          <a:effectLst>
            <a:outerShdw sx="100000" sy="100000" kx="0" ky="0" algn="bl" rotWithShape="0" blurRad="127000" dist="38100" dir="5400000">
              <a:srgbClr val="10302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3246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3566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JOD / month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28232" y="41605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invites. Priority access to new candidates.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note: payments are simulated.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029200" cy="365760"/>
          </a:xfrm>
          <a:prstGeom prst="roundRect">
            <a:avLst>
              <a:gd name="adj" fmla="val 50000"/>
            </a:avLst>
          </a:prstGeom>
          <a:solidFill>
            <a:srgbClr val="E8F7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B8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// TEAM · 10 SEC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MISH SENIOR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0725912" cy="0"/>
          </a:xfrm>
          <a:prstGeom prst="line">
            <a:avLst/>
          </a:prstGeom>
          <a:noFill/>
          <a:ln w="19050">
            <a:solidFill>
              <a:srgbClr val="CBD5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017520"/>
            <a:ext cx="338328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10302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3200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520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41148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[Role]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89120" y="3017520"/>
            <a:ext cx="338328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10302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3200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41148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[Role]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46720" y="3017520"/>
            <a:ext cx="3383280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sx="100000" sy="100000" kx="0" ky="0" algn="bl" rotWithShape="0" blurRad="127000" dist="38100" dir="5400000">
              <a:srgbClr val="10302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21040" y="3200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35204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21040" y="41148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[Role]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029200" cy="365760"/>
          </a:xfrm>
          <a:prstGeom prst="roundRect">
            <a:avLst>
              <a:gd name="adj" fmla="val 50000"/>
            </a:avLst>
          </a:prstGeom>
          <a:solidFill>
            <a:srgbClr val="E8F7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B8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// THE ASK · 15 SEC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MISH SENIOR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us reach first jobs.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0725912" cy="0"/>
          </a:xfrm>
          <a:prstGeom prst="line">
            <a:avLst/>
          </a:prstGeom>
          <a:noFill/>
          <a:ln w="19050">
            <a:solidFill>
              <a:srgbClr val="CBD5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3172968"/>
            <a:ext cx="201168" cy="201168"/>
          </a:xfrm>
          <a:prstGeom prst="ellipse">
            <a:avLst/>
          </a:prstGeom>
          <a:solidFill>
            <a:srgbClr val="0F9F6E"/>
          </a:solidFill>
          <a:ln w="12700">
            <a:solidFill>
              <a:srgbClr val="0F9F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017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companies to hire from.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77240" y="4041648"/>
            <a:ext cx="201168" cy="201168"/>
          </a:xfrm>
          <a:prstGeom prst="ellipse">
            <a:avLst/>
          </a:prstGeom>
          <a:solidFill>
            <a:srgbClr val="0F9F6E"/>
          </a:solidFill>
          <a:ln w="12700">
            <a:solidFill>
              <a:srgbClr val="0F9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8862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 and feedback.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Mish Senior. </a:t>
            </a:r>
            <a:pPr indent="0" marL="0">
              <a:buNone/>
            </a:pPr>
            <a:r>
              <a:rPr lang="en-US" sz="3600" b="1" dirty="0">
                <a:solidFill>
                  <a:srgbClr val="0F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it. Get seen.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2026-10-11T09:33:50Z</dcterms:created>
  <dcterms:modified xsi:type="dcterms:W3CDTF">2026-10-11T09:33:50Z</dcterms:modified>
</cp:coreProperties>
</file>