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video" Target="../media/media-1-1.mp4"/><Relationship Id="rId2" Type="http://schemas.microsoft.com/office/2007/relationships/media" Target="../media/media-1-1.mp4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640080"/>
            <a:ext cx="5029200" cy="365760"/>
          </a:xfrm>
          <a:prstGeom prst="roundRect">
            <a:avLst>
              <a:gd name="adj" fmla="val 50000"/>
            </a:avLst>
          </a:prstGeom>
          <a:solidFill>
            <a:srgbClr val="E8F7F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0B8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INTRO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3152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F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MISH SENIOR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8686800" y="640080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F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/ 10</a:t>
            </a:r>
            <a:endParaRPr lang="en-US" sz="1000" dirty="0"/>
          </a:p>
        </p:txBody>
      </p:sp>
      <p:sp>
        <p:nvSpPr>
          <p:cNvPr id="20" name="Intro text"/>
          <p:cNvSpPr txBox="1"/>
          <p:nvPr/>
        </p:nvSpPr>
        <p:spPr>
          <a:xfrm>
            <a:off x="5943600" y="457200"/>
            <a:ext cx="5760720" cy="6400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r>
              <a:rPr lang="en-US" sz="1400" dirty="0">
                <a:solidFill>
                  <a:srgbClr val="0F1F1A"/>
                </a:solidFill>
                <a:latin typeface="Arial" pitchFamily="34" charset="0"/>
              </a:rPr>
              <a:t>Mish Senior helps fresh IT graduates prove what they can do through skill assessments and AI voice interviews, and helps companies hire them with confidence.</a:t>
            </a:r>
          </a:p>
        </p:txBody>
      </p:sp>
      <p:pic>
        <p:nvPicPr>
          <p:cNvPr id="3" name="Media 0">
            <a:hlinkClick r:id="" action="ppaction://media"/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1527048" y="118872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640080"/>
            <a:ext cx="5029200" cy="365760"/>
          </a:xfrm>
          <a:prstGeom prst="roundRect">
            <a:avLst>
              <a:gd name="adj" fmla="val 50000"/>
            </a:avLst>
          </a:prstGeom>
          <a:solidFill>
            <a:srgbClr val="E8F7F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0B8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// PROBLEM · 20 SEC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3152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F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MISH SENIOR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8686800" y="640080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F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/ 10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31520" y="1508760"/>
            <a:ext cx="1069848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0F1F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Fresh graduates can't get a first IT job.</a:t>
            </a:r>
            <a:endParaRPr lang="en-US" sz="4400" dirty="0"/>
          </a:p>
        </p:txBody>
      </p:sp>
      <p:sp>
        <p:nvSpPr>
          <p:cNvPr id="6" name="Shape 4"/>
          <p:cNvSpPr/>
          <p:nvPr/>
        </p:nvSpPr>
        <p:spPr>
          <a:xfrm>
            <a:off x="731520" y="2743200"/>
            <a:ext cx="10725912" cy="0"/>
          </a:xfrm>
          <a:prstGeom prst="line">
            <a:avLst/>
          </a:prstGeom>
          <a:noFill/>
          <a:ln w="19050">
            <a:solidFill>
              <a:srgbClr val="CBD5D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77240" y="3172968"/>
            <a:ext cx="201168" cy="201168"/>
          </a:xfrm>
          <a:prstGeom prst="ellipse">
            <a:avLst/>
          </a:prstGeom>
          <a:solidFill>
            <a:srgbClr val="0F9F6E"/>
          </a:solidFill>
          <a:ln w="12700">
            <a:solidFill>
              <a:srgbClr val="0F9F6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0" y="3017520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F1F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job asks for experience.</a:t>
            </a:r>
            <a:endParaRPr lang="en-US" sz="2600" dirty="0"/>
          </a:p>
        </p:txBody>
      </p:sp>
      <p:sp>
        <p:nvSpPr>
          <p:cNvPr id="9" name="Shape 7"/>
          <p:cNvSpPr/>
          <p:nvPr/>
        </p:nvSpPr>
        <p:spPr>
          <a:xfrm>
            <a:off x="777240" y="4041648"/>
            <a:ext cx="201168" cy="201168"/>
          </a:xfrm>
          <a:prstGeom prst="ellipse">
            <a:avLst/>
          </a:prstGeom>
          <a:solidFill>
            <a:srgbClr val="0F9F6E"/>
          </a:solidFill>
          <a:ln w="12700">
            <a:solidFill>
              <a:srgbClr val="0F9F6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88720" y="3886200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F1F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Companies drown in CVs.</a:t>
            </a:r>
            <a:endParaRPr lang="en-US" sz="2600" dirty="0"/>
          </a:p>
        </p:txBody>
      </p:sp>
      <p:sp>
        <p:nvSpPr>
          <p:cNvPr id="11" name="Shape 9"/>
          <p:cNvSpPr/>
          <p:nvPr/>
        </p:nvSpPr>
        <p:spPr>
          <a:xfrm>
            <a:off x="777240" y="4910328"/>
            <a:ext cx="201168" cy="201168"/>
          </a:xfrm>
          <a:prstGeom prst="ellipse">
            <a:avLst/>
          </a:prstGeom>
          <a:solidFill>
            <a:srgbClr val="0F9F6E"/>
          </a:solidFill>
          <a:ln w="12700">
            <a:solidFill>
              <a:srgbClr val="0F9F6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88720" y="4754880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F1F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Skills stay hidden behind a piece of paper.</a:t>
            </a:r>
            <a:endParaRPr lang="en-US" sz="2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640080"/>
            <a:ext cx="5029200" cy="365760"/>
          </a:xfrm>
          <a:prstGeom prst="roundRect">
            <a:avLst>
              <a:gd name="adj" fmla="val 50000"/>
            </a:avLst>
          </a:prstGeom>
          <a:solidFill>
            <a:srgbClr val="E8F7F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0B8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// IMPACT · 15 SEC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3152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F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MISH SENIOR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8686800" y="640080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F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/ 10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31520" y="1508760"/>
            <a:ext cx="1069848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0F1F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Talent is wasted. Hiring is slow.</a:t>
            </a:r>
            <a:endParaRPr lang="en-US" sz="4400" dirty="0"/>
          </a:p>
        </p:txBody>
      </p:sp>
      <p:sp>
        <p:nvSpPr>
          <p:cNvPr id="6" name="Shape 4"/>
          <p:cNvSpPr/>
          <p:nvPr/>
        </p:nvSpPr>
        <p:spPr>
          <a:xfrm>
            <a:off x="731520" y="2743200"/>
            <a:ext cx="10725912" cy="0"/>
          </a:xfrm>
          <a:prstGeom prst="line">
            <a:avLst/>
          </a:prstGeom>
          <a:noFill/>
          <a:ln w="19050">
            <a:solidFill>
              <a:srgbClr val="CBD5D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3017520"/>
            <a:ext cx="3383280" cy="2377440"/>
          </a:xfrm>
          <a:prstGeom prst="roundRect">
            <a:avLst>
              <a:gd name="adj" fmla="val 6923"/>
            </a:avLst>
          </a:prstGeom>
          <a:solidFill>
            <a:srgbClr val="FFFFFF"/>
          </a:solidFill>
          <a:ln w="12700">
            <a:solidFill>
              <a:srgbClr val="E3E9E6"/>
            </a:solidFill>
            <a:prstDash val="solid"/>
          </a:ln>
          <a:effectLst>
            <a:outerShdw sx="100000" sy="100000" kx="0" ky="0" algn="bl" rotWithShape="0" blurRad="127000" dist="38100" dir="5400000">
              <a:srgbClr val="10302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1005840" y="3200400"/>
            <a:ext cx="2834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9F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GRADUATES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005840" y="3520440"/>
            <a:ext cx="2834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1F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fair chance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1005840" y="411480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Prove skills, not CV lines.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4389120" y="3017520"/>
            <a:ext cx="3383280" cy="2377440"/>
          </a:xfrm>
          <a:prstGeom prst="roundRect">
            <a:avLst>
              <a:gd name="adj" fmla="val 6923"/>
            </a:avLst>
          </a:prstGeom>
          <a:solidFill>
            <a:srgbClr val="FFFFFF"/>
          </a:solidFill>
          <a:ln w="12700">
            <a:solidFill>
              <a:srgbClr val="E3E9E6"/>
            </a:solidFill>
            <a:prstDash val="solid"/>
          </a:ln>
          <a:effectLst>
            <a:outerShdw sx="100000" sy="100000" kx="0" ky="0" algn="bl" rotWithShape="0" blurRad="127000" dist="38100" dir="5400000">
              <a:srgbClr val="10302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663440" y="3200400"/>
            <a:ext cx="2834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9F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COMPANIES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663440" y="3520440"/>
            <a:ext cx="2834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1F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Verified scores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4663440" y="411480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See real results before the first call.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8046720" y="3017520"/>
            <a:ext cx="3383280" cy="2377440"/>
          </a:xfrm>
          <a:prstGeom prst="roundRect">
            <a:avLst>
              <a:gd name="adj" fmla="val 6923"/>
            </a:avLst>
          </a:prstGeom>
          <a:solidFill>
            <a:srgbClr val="FFFFFF"/>
          </a:solidFill>
          <a:ln w="12700">
            <a:solidFill>
              <a:srgbClr val="E3E9E6"/>
            </a:solidFill>
            <a:prstDash val="solid"/>
          </a:ln>
          <a:effectLst>
            <a:outerShdw sx="100000" sy="100000" kx="0" ky="0" algn="bl" rotWithShape="0" blurRad="127000" dist="38100" dir="5400000">
              <a:srgbClr val="10302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8321040" y="3200400"/>
            <a:ext cx="2834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9F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HIRING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8321040" y="3520440"/>
            <a:ext cx="2834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1F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Faster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8321040" y="411480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Filter by skill and score in seconds.</a:t>
            </a:r>
            <a:endParaRPr lang="en-US" sz="1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640080"/>
            <a:ext cx="5029200" cy="365760"/>
          </a:xfrm>
          <a:prstGeom prst="roundRect">
            <a:avLst>
              <a:gd name="adj" fmla="val 50000"/>
            </a:avLst>
          </a:prstGeom>
          <a:solidFill>
            <a:srgbClr val="E8F7F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0B8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// SOLUTION · 15 SEC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3152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F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MISH SENIOR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8686800" y="640080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F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/ 10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31520" y="1508760"/>
            <a:ext cx="1069848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0F1F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Mish Senior.</a:t>
            </a:r>
            <a:endParaRPr lang="en-US" sz="4400" dirty="0"/>
          </a:p>
        </p:txBody>
      </p:sp>
      <p:sp>
        <p:nvSpPr>
          <p:cNvPr id="6" name="Shape 4"/>
          <p:cNvSpPr/>
          <p:nvPr/>
        </p:nvSpPr>
        <p:spPr>
          <a:xfrm>
            <a:off x="731520" y="2743200"/>
            <a:ext cx="10725912" cy="0"/>
          </a:xfrm>
          <a:prstGeom prst="line">
            <a:avLst/>
          </a:prstGeom>
          <a:noFill/>
          <a:ln w="19050">
            <a:solidFill>
              <a:srgbClr val="CBD5D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3017520"/>
            <a:ext cx="3383280" cy="2377440"/>
          </a:xfrm>
          <a:prstGeom prst="roundRect">
            <a:avLst>
              <a:gd name="adj" fmla="val 6923"/>
            </a:avLst>
          </a:prstGeom>
          <a:solidFill>
            <a:srgbClr val="FFFFFF"/>
          </a:solidFill>
          <a:ln w="12700">
            <a:solidFill>
              <a:srgbClr val="E3E9E6"/>
            </a:solidFill>
            <a:prstDash val="solid"/>
          </a:ln>
          <a:effectLst>
            <a:outerShdw sx="100000" sy="100000" kx="0" ky="0" algn="bl" rotWithShape="0" blurRad="127000" dist="38100" dir="5400000">
              <a:srgbClr val="10302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1005840" y="3200400"/>
            <a:ext cx="2834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9F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1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005840" y="3520440"/>
            <a:ext cx="2834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1F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Assess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1005840" y="411480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Pick up to 2 skills. 10 questions. Pass at 5/10.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4389120" y="3017520"/>
            <a:ext cx="3383280" cy="2377440"/>
          </a:xfrm>
          <a:prstGeom prst="roundRect">
            <a:avLst>
              <a:gd name="adj" fmla="val 6923"/>
            </a:avLst>
          </a:prstGeom>
          <a:solidFill>
            <a:srgbClr val="FFFFFF"/>
          </a:solidFill>
          <a:ln w="12700">
            <a:solidFill>
              <a:srgbClr val="E3E9E6"/>
            </a:solidFill>
            <a:prstDash val="solid"/>
          </a:ln>
          <a:effectLst>
            <a:outerShdw sx="100000" sy="100000" kx="0" ky="0" algn="bl" rotWithShape="0" blurRad="127000" dist="38100" dir="5400000">
              <a:srgbClr val="10302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663440" y="3200400"/>
            <a:ext cx="2834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9F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2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663440" y="3520440"/>
            <a:ext cx="2834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1F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Interview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4663440" y="411480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Voice interviews in Arabic or English. HR and technical.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8046720" y="3017520"/>
            <a:ext cx="3383280" cy="2377440"/>
          </a:xfrm>
          <a:prstGeom prst="roundRect">
            <a:avLst>
              <a:gd name="adj" fmla="val 6923"/>
            </a:avLst>
          </a:prstGeom>
          <a:solidFill>
            <a:srgbClr val="FFFFFF"/>
          </a:solidFill>
          <a:ln w="12700">
            <a:solidFill>
              <a:srgbClr val="E3E9E6"/>
            </a:solidFill>
            <a:prstDash val="solid"/>
          </a:ln>
          <a:effectLst>
            <a:outerShdw sx="100000" sy="100000" kx="0" ky="0" algn="bl" rotWithShape="0" blurRad="127000" dist="38100" dir="5400000">
              <a:srgbClr val="10302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8321040" y="3200400"/>
            <a:ext cx="2834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9F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3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8321040" y="3520440"/>
            <a:ext cx="2834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1F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Get hired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8321040" y="411480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Companies filter, view scores, invite and chat.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731520" y="566928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F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SCORING BY GOOGLE GEMINI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640080"/>
            <a:ext cx="5029200" cy="365760"/>
          </a:xfrm>
          <a:prstGeom prst="roundRect">
            <a:avLst>
              <a:gd name="adj" fmla="val 50000"/>
            </a:avLst>
          </a:prstGeom>
          <a:solidFill>
            <a:srgbClr val="E8F7F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0B8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// DEMO · 60 SEC · RECORDED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3152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F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MISH SENIOR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8686800" y="640080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F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/ 10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731520" y="1645920"/>
            <a:ext cx="10725912" cy="4480560"/>
          </a:xfrm>
          <a:prstGeom prst="roundRect">
            <a:avLst>
              <a:gd name="adj" fmla="val 4082"/>
            </a:avLst>
          </a:prstGeom>
          <a:solidFill>
            <a:srgbClr val="FFFFFF"/>
          </a:solidFill>
          <a:ln w="25400">
            <a:solidFill>
              <a:srgbClr val="CBD5D0"/>
            </a:solidFill>
            <a:prstDash val="dash"/>
          </a:ln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640080"/>
            <a:ext cx="5029200" cy="365760"/>
          </a:xfrm>
          <a:prstGeom prst="roundRect">
            <a:avLst>
              <a:gd name="adj" fmla="val 50000"/>
            </a:avLst>
          </a:prstGeom>
          <a:solidFill>
            <a:srgbClr val="E8F7F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0B8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// MARKET · 15 SEC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3152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F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MISH SENIOR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8686800" y="640080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F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/ 10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31520" y="1508760"/>
            <a:ext cx="1069848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0F1F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Competitors</a:t>
            </a:r>
            <a:endParaRPr lang="en-US" sz="4400" dirty="0"/>
          </a:p>
        </p:txBody>
      </p:sp>
      <p:sp>
        <p:nvSpPr>
          <p:cNvPr id="6" name="Shape 4"/>
          <p:cNvSpPr/>
          <p:nvPr/>
        </p:nvSpPr>
        <p:spPr>
          <a:xfrm>
            <a:off x="731520" y="2743200"/>
            <a:ext cx="10725912" cy="0"/>
          </a:xfrm>
          <a:prstGeom prst="line">
            <a:avLst/>
          </a:prstGeom>
          <a:noFill/>
          <a:ln w="19050">
            <a:solidFill>
              <a:srgbClr val="CBD5D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3017520"/>
            <a:ext cx="5303520" cy="292608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E3E9E6"/>
            </a:solidFill>
            <a:prstDash val="solid"/>
          </a:ln>
          <a:effectLst>
            <a:outerShdw sx="100000" sy="100000" kx="0" ky="0" algn="bl" rotWithShape="0" blurRad="127000" dist="38100" dir="5400000">
              <a:srgbClr val="10302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1005840" y="3246120"/>
            <a:ext cx="4754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9F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COMPETITOR 1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005840" y="3566160"/>
            <a:ext cx="4754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1F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Turing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1005840" y="4160520"/>
            <a:ext cx="475488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Platforms like Turing are built to filter out junior talent and focus only on Seniors.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6153912" y="3017520"/>
            <a:ext cx="5303520" cy="292608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25400">
            <a:solidFill>
              <a:srgbClr val="0F9F6E"/>
            </a:solidFill>
            <a:prstDash val="solid"/>
          </a:ln>
          <a:effectLst>
            <a:outerShdw sx="100000" sy="100000" kx="0" ky="0" algn="bl" rotWithShape="0" blurRad="127000" dist="38100" dir="5400000">
              <a:srgbClr val="10302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3246120"/>
            <a:ext cx="4754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9F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OUR GAP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428232" y="3566160"/>
            <a:ext cx="4754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1F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Mish Senior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28232" y="4160520"/>
            <a:ext cx="475488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give fresh graduates a fair chance to prove their skills through smart, conversational AI assessments rather than stressful algorithm exams.</a:t>
            </a:r>
            <a:endParaRPr lang="en-US"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640080"/>
            <a:ext cx="5029200" cy="365760"/>
          </a:xfrm>
          <a:prstGeom prst="roundRect">
            <a:avLst>
              <a:gd name="adj" fmla="val 50000"/>
            </a:avLst>
          </a:prstGeom>
          <a:solidFill>
            <a:srgbClr val="E8F7F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0B8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// MARKET · POSITIONING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3152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F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MISH SENIOR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8686800" y="640080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F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/ 10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31520" y="1188720"/>
            <a:ext cx="7315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0F1F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 &amp; Competitors</a:t>
            </a:r>
            <a:endParaRPr lang="en-US" sz="3800" dirty="0"/>
          </a:p>
        </p:txBody>
      </p:sp>
      <p:sp>
        <p:nvSpPr>
          <p:cNvPr id="6" name="Shape 4"/>
          <p:cNvSpPr/>
          <p:nvPr/>
        </p:nvSpPr>
        <p:spPr>
          <a:xfrm>
            <a:off x="731520" y="2286000"/>
            <a:ext cx="3291840" cy="0"/>
          </a:xfrm>
          <a:prstGeom prst="line">
            <a:avLst/>
          </a:prstGeom>
          <a:noFill/>
          <a:ln w="19050">
            <a:solidFill>
              <a:srgbClr val="CBD5D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237744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F6F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31520" y="2697480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F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Fresh IT graduates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731520" y="3520440"/>
            <a:ext cx="3291840" cy="0"/>
          </a:xfrm>
          <a:prstGeom prst="line">
            <a:avLst/>
          </a:prstGeom>
          <a:noFill/>
          <a:ln w="19050">
            <a:solidFill>
              <a:srgbClr val="CBD5D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31520" y="361188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F6F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JORDAN FIRST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731520" y="3931920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9F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4,500+ </a:t>
            </a:r>
            <a:pPr indent="0" marL="0">
              <a:buNone/>
            </a:pPr>
            <a:r>
              <a:rPr lang="en-US" sz="1800" b="1" dirty="0">
                <a:solidFill>
                  <a:srgbClr val="0F1F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Annual ICT Graduates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731520" y="4754880"/>
            <a:ext cx="3291840" cy="0"/>
          </a:xfrm>
          <a:prstGeom prst="line">
            <a:avLst/>
          </a:prstGeom>
          <a:noFill/>
          <a:ln w="19050">
            <a:solidFill>
              <a:srgbClr val="CBD5D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31520" y="484632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F6F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MENA NEXT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731520" y="5166360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9F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100,000+ </a:t>
            </a:r>
            <a:pPr indent="0" marL="0">
              <a:buNone/>
            </a:pPr>
            <a:r>
              <a:rPr lang="en-US" sz="1800" b="1" dirty="0">
                <a:solidFill>
                  <a:srgbClr val="0F1F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Annual IT Graduates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4297680" y="1371600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F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↑ CONVERSATIONAL AI ASSESSMENT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297680" y="1783080"/>
            <a:ext cx="7159752" cy="4069080"/>
          </a:xfrm>
          <a:prstGeom prst="roundRect">
            <a:avLst>
              <a:gd name="adj" fmla="val 3371"/>
            </a:avLst>
          </a:prstGeom>
          <a:solidFill>
            <a:srgbClr val="FFFFFF"/>
          </a:solidFill>
          <a:ln w="19050">
            <a:solidFill>
              <a:srgbClr val="CBD5D0"/>
            </a:solidFill>
            <a:prstDash val="solid"/>
          </a:ln>
          <a:effectLst>
            <a:outerShdw sx="100000" sy="100000" kx="0" ky="0" algn="bl" rotWithShape="0" blurRad="127000" dist="38100" dir="5400000">
              <a:srgbClr val="103020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7877556" y="1783080"/>
            <a:ext cx="0" cy="4069080"/>
          </a:xfrm>
          <a:prstGeom prst="line">
            <a:avLst/>
          </a:prstGeom>
          <a:noFill/>
          <a:ln w="12700">
            <a:solidFill>
              <a:srgbClr val="CBD5D0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>
            <a:off x="4297680" y="3817620"/>
            <a:ext cx="7159752" cy="0"/>
          </a:xfrm>
          <a:prstGeom prst="line">
            <a:avLst/>
          </a:prstGeom>
          <a:noFill/>
          <a:ln w="12700">
            <a:solidFill>
              <a:srgbClr val="CBD5D0"/>
            </a:solidFill>
            <a:prstDash val="dash"/>
          </a:ln>
        </p:spPr>
      </p:sp>
      <p:sp>
        <p:nvSpPr>
          <p:cNvPr id="19" name="Text 17"/>
          <p:cNvSpPr/>
          <p:nvPr/>
        </p:nvSpPr>
        <p:spPr>
          <a:xfrm>
            <a:off x="4937760" y="2468880"/>
            <a:ext cx="1737360" cy="411480"/>
          </a:xfrm>
          <a:prstGeom prst="roundRect">
            <a:avLst>
              <a:gd name="adj" fmla="val 26667"/>
            </a:avLst>
          </a:prstGeom>
          <a:solidFill>
            <a:srgbClr val="EEF2F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KARAT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9144000" y="2468880"/>
            <a:ext cx="1737360" cy="411480"/>
          </a:xfrm>
          <a:prstGeom prst="roundRect">
            <a:avLst>
              <a:gd name="adj" fmla="val 26667"/>
            </a:avLst>
          </a:prstGeom>
          <a:solidFill>
            <a:srgbClr val="0F9F6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MISH SENIOR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937760" y="4754880"/>
            <a:ext cx="1737360" cy="411480"/>
          </a:xfrm>
          <a:prstGeom prst="roundRect">
            <a:avLst>
              <a:gd name="adj" fmla="val 26667"/>
            </a:avLst>
          </a:prstGeom>
          <a:solidFill>
            <a:srgbClr val="EEF2F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TURING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9144000" y="4754880"/>
            <a:ext cx="1737360" cy="411480"/>
          </a:xfrm>
          <a:prstGeom prst="roundRect">
            <a:avLst>
              <a:gd name="adj" fmla="val 26667"/>
            </a:avLst>
          </a:prstGeom>
          <a:solidFill>
            <a:srgbClr val="EEF2F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HACKERRANK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4297680" y="5943600"/>
            <a:ext cx="71597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F6F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← SENIORS ONLY          FOR FRESH GRADUATES →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640080"/>
            <a:ext cx="5029200" cy="365760"/>
          </a:xfrm>
          <a:prstGeom prst="roundRect">
            <a:avLst>
              <a:gd name="adj" fmla="val 50000"/>
            </a:avLst>
          </a:prstGeom>
          <a:solidFill>
            <a:srgbClr val="E8F7F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0B8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// BUSINESS · 15 SEC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3152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F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MISH SENIOR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8686800" y="640080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F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 / 10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31520" y="1508760"/>
            <a:ext cx="1069848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0F1F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Companies pay. Graduates start free.</a:t>
            </a:r>
            <a:endParaRPr lang="en-US" sz="4400" dirty="0"/>
          </a:p>
        </p:txBody>
      </p:sp>
      <p:sp>
        <p:nvSpPr>
          <p:cNvPr id="6" name="Shape 4"/>
          <p:cNvSpPr/>
          <p:nvPr/>
        </p:nvSpPr>
        <p:spPr>
          <a:xfrm>
            <a:off x="731520" y="2743200"/>
            <a:ext cx="10725912" cy="0"/>
          </a:xfrm>
          <a:prstGeom prst="line">
            <a:avLst/>
          </a:prstGeom>
          <a:noFill/>
          <a:ln w="19050">
            <a:solidFill>
              <a:srgbClr val="CBD5D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3017520"/>
            <a:ext cx="5303520" cy="292608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E3E9E6"/>
            </a:solidFill>
            <a:prstDash val="solid"/>
          </a:ln>
          <a:effectLst>
            <a:outerShdw sx="100000" sy="100000" kx="0" ky="0" algn="bl" rotWithShape="0" blurRad="127000" dist="38100" dir="5400000">
              <a:srgbClr val="10302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1005840" y="3246120"/>
            <a:ext cx="4754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9F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BASIC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005840" y="3566160"/>
            <a:ext cx="4754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1F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JOD / month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1005840" y="4160520"/>
            <a:ext cx="475488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Browse and filter candidates. Limited invites.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6153912" y="3017520"/>
            <a:ext cx="5303520" cy="292608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25400">
            <a:solidFill>
              <a:srgbClr val="0F9F6E"/>
            </a:solidFill>
            <a:prstDash val="solid"/>
          </a:ln>
          <a:effectLst>
            <a:outerShdw sx="100000" sy="100000" kx="0" ky="0" algn="bl" rotWithShape="0" blurRad="127000" dist="38100" dir="5400000">
              <a:srgbClr val="10302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3246120"/>
            <a:ext cx="4754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9F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PREMIUM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428232" y="3566160"/>
            <a:ext cx="4754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1F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 JOD / month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28232" y="4160520"/>
            <a:ext cx="475488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Unlimited invites. Priority access to new candidates.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731520" y="59893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F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 note: payments are simulated.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640080"/>
            <a:ext cx="5029200" cy="365760"/>
          </a:xfrm>
          <a:prstGeom prst="roundRect">
            <a:avLst>
              <a:gd name="adj" fmla="val 50000"/>
            </a:avLst>
          </a:prstGeom>
          <a:solidFill>
            <a:srgbClr val="E8F7F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0B8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// TEAM · 10 SEC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3152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F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MISH SENIOR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8686800" y="640080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F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 / 10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31520" y="1508760"/>
            <a:ext cx="1069848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0F1F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team.</a:t>
            </a:r>
            <a:endParaRPr lang="en-US" sz="4400" dirty="0"/>
          </a:p>
        </p:txBody>
      </p:sp>
      <p:sp>
        <p:nvSpPr>
          <p:cNvPr id="6" name="Shape 4"/>
          <p:cNvSpPr/>
          <p:nvPr/>
        </p:nvSpPr>
        <p:spPr>
          <a:xfrm>
            <a:off x="731520" y="2743200"/>
            <a:ext cx="10725912" cy="0"/>
          </a:xfrm>
          <a:prstGeom prst="line">
            <a:avLst/>
          </a:prstGeom>
          <a:noFill/>
          <a:ln w="19050">
            <a:solidFill>
              <a:srgbClr val="CBD5D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3017520"/>
            <a:ext cx="5303520" cy="292608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E3E9E6"/>
            </a:solidFill>
            <a:prstDash val="solid"/>
          </a:ln>
          <a:effectLst>
            <a:outerShdw sx="100000" sy="100000" kx="0" ky="0" algn="bl" rotWithShape="0" blurRad="127000" dist="38100" dir="5400000">
              <a:srgbClr val="10302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1005840" y="3246120"/>
            <a:ext cx="4754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9F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MOBILE APP DEVELOPER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005840" y="3566160"/>
            <a:ext cx="4754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1F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Dana Alamm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1005840" y="4160520"/>
            <a:ext cx="475488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Mobile app developer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6153912" y="3017520"/>
            <a:ext cx="5303520" cy="292608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25400">
            <a:solidFill>
              <a:srgbClr val="0F9F6E"/>
            </a:solidFill>
            <a:prstDash val="solid"/>
          </a:ln>
          <a:effectLst>
            <a:outerShdw sx="100000" sy="100000" kx="0" ky="0" algn="bl" rotWithShape="0" blurRad="127000" dist="38100" dir="5400000">
              <a:srgbClr val="10302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3246120"/>
            <a:ext cx="4754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9F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MOBILE APP DEVELOPER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428232" y="3566160"/>
            <a:ext cx="4754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1F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Alaa Qtishat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28232" y="4160520"/>
            <a:ext cx="475488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Mobile app developer</a:t>
            </a:r>
            <a:endParaRPr lang="en-US" sz="1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640080"/>
            <a:ext cx="5029200" cy="365760"/>
          </a:xfrm>
          <a:prstGeom prst="roundRect">
            <a:avLst>
              <a:gd name="adj" fmla="val 50000"/>
            </a:avLst>
          </a:prstGeom>
          <a:solidFill>
            <a:srgbClr val="E8F7F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0B8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 // THE ASK · 15 SEC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3152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F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MISH SENIOR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8686800" y="640080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F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10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31520" y="1508760"/>
            <a:ext cx="1069848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0F1F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Help us reach first jobs.</a:t>
            </a:r>
            <a:endParaRPr lang="en-US" sz="4400" dirty="0"/>
          </a:p>
        </p:txBody>
      </p:sp>
      <p:sp>
        <p:nvSpPr>
          <p:cNvPr id="6" name="Shape 4"/>
          <p:cNvSpPr/>
          <p:nvPr/>
        </p:nvSpPr>
        <p:spPr>
          <a:xfrm>
            <a:off x="731520" y="2743200"/>
            <a:ext cx="10725912" cy="0"/>
          </a:xfrm>
          <a:prstGeom prst="line">
            <a:avLst/>
          </a:prstGeom>
          <a:noFill/>
          <a:ln w="19050">
            <a:solidFill>
              <a:srgbClr val="CBD5D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77240" y="3172968"/>
            <a:ext cx="201168" cy="201168"/>
          </a:xfrm>
          <a:prstGeom prst="ellipse">
            <a:avLst/>
          </a:prstGeom>
          <a:solidFill>
            <a:srgbClr val="0F9F6E"/>
          </a:solidFill>
          <a:ln w="12700">
            <a:solidFill>
              <a:srgbClr val="0F9F6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0" y="3017520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F1F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Pilot companies to hire from.</a:t>
            </a:r>
            <a:endParaRPr lang="en-US" sz="2600" dirty="0"/>
          </a:p>
        </p:txBody>
      </p:sp>
      <p:sp>
        <p:nvSpPr>
          <p:cNvPr id="9" name="Shape 7"/>
          <p:cNvSpPr/>
          <p:nvPr/>
        </p:nvSpPr>
        <p:spPr>
          <a:xfrm>
            <a:off x="777240" y="4041648"/>
            <a:ext cx="201168" cy="201168"/>
          </a:xfrm>
          <a:prstGeom prst="ellipse">
            <a:avLst/>
          </a:prstGeom>
          <a:solidFill>
            <a:srgbClr val="0F9F6E"/>
          </a:solidFill>
          <a:ln w="12700">
            <a:solidFill>
              <a:srgbClr val="0F9F6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88720" y="3886200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F1F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Mentors and feedback.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731520" y="4937760"/>
            <a:ext cx="10698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F1F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Mish Senior. </a:t>
            </a:r>
            <a:pPr indent="0" marL="0">
              <a:buNone/>
            </a:pPr>
            <a:r>
              <a:rPr lang="en-US" sz="3600" b="1" dirty="0">
                <a:solidFill>
                  <a:srgbClr val="0F9F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Prove it. Get seen.</a:t>
            </a:r>
            <a:endParaRPr lang="en-US" sz="3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2026-10-11T09:53:18Z</dcterms:created>
  <dcterms:modified xsi:type="dcterms:W3CDTF">2026-10-11T09:53:18Z</dcterms:modified>
</cp:coreProperties>
</file>