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6" r:id="rId99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99" Type="http://schemas.openxmlformats.org/officeDocument/2006/relationships/slide" Target="slides/slide11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-1.mp4"/><Relationship Id="rId2" Type="http://schemas.microsoft.com/office/2007/relationships/media" Target="../media/media-1-1.mp4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11</a:t>
            </a:r>
            <a:endParaRPr lang="en-US" sz="10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527048" y="118872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// PROBLEM · 20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graduates can't get a first IT job.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317296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3017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job asks for experience.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77240" y="404164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8862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drown in CVs.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777240" y="491032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47548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stay hidden behind a piece of paper.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// IMPACT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is wasted. Hiring is slow.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GRADUATES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fair chance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skills, not CV lines.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scores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634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real results before the first call.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3210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by skill and score in seconds.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// SOLUTION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up to 2 skills. 10 questions. Pass at 5/10.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634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interviews in Arabic or English. HR and technical.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hired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3210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filter, view scores, invite and chat.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" y="5669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SCORING BY GOOGLE GEMINI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// DEMO · 60 SEC · RECORDED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1072591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25400">
            <a:solidFill>
              <a:srgbClr val="CBD5D0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// MARKET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Turing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 like Turing are built to filter out junior talent and focus only on Seniors.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GAP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give fresh graduates a fair chance to prove their skills through smart, conversational AI assessments rather than stressful algorithm exams.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// MARKET · POSITIONING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Competitors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329184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IT graduates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520440"/>
            <a:ext cx="329184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JORDAN FIRST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931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4,500+ </a:t>
            </a:r>
            <a:pPr indent="0" marL="0">
              <a:buNone/>
            </a:pPr>
            <a:r>
              <a:rPr lang="en-US" sz="1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ICT Graduates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31520" y="4754880"/>
            <a:ext cx="329184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463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 NEXT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51663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100,000+ </a:t>
            </a:r>
            <a:pPr indent="0" marL="0">
              <a:buNone/>
            </a:pPr>
            <a:r>
              <a:rPr lang="en-US" sz="1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IT Graduates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297680" y="137160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CONVERSATIONAL AI ASSESSMENT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97680" y="1783080"/>
            <a:ext cx="7159752" cy="4069080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19050">
            <a:solidFill>
              <a:srgbClr val="CBD5D0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877556" y="1783080"/>
            <a:ext cx="0" cy="4069080"/>
          </a:xfrm>
          <a:prstGeom prst="line">
            <a:avLst/>
          </a:prstGeom>
          <a:noFill/>
          <a:ln w="12700">
            <a:solidFill>
              <a:srgbClr val="CBD5D0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4297680" y="3817620"/>
            <a:ext cx="7159752" cy="0"/>
          </a:xfrm>
          <a:prstGeom prst="line">
            <a:avLst/>
          </a:prstGeom>
          <a:noFill/>
          <a:ln w="12700">
            <a:solidFill>
              <a:srgbClr val="CBD5D0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937760" y="2468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0" y="2468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0F9F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37760" y="4754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0" y="4754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HACKERRANK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97680" y="5943600"/>
            <a:ext cx="7159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SENIORS ONLY          FOR FRESH GRADUATES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// BUSINESS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pay. Graduates start free.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JOD / month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and filter candidates. Limited invites.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JOD / month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invites. Priority access to new candidates.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31520" y="5989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note: payments are simulated.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// TEAM · 10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DEVELOPER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 Alamm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developer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DEVELOPER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Alaa Qtishat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developer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// THE ASK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us reach first jobs.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317296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3017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companies to hire from.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77240" y="404164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8862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 and feedback.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31520" y="49377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Senior. </a:t>
            </a:r>
            <a:pPr indent="0" marL="0">
              <a:buNone/>
            </a:pPr>
            <a:r>
              <a:rPr lang="en-US" sz="36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it. Get seen.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11</a:t>
            </a:r>
            <a:endParaRPr lang="en-US" sz="1000" dirty="0"/>
          </a:p>
        </p:txBody>
      </p:sp>
      <p:sp>
        <p:nvSpPr>
          <p:cNvPr id="30" name="T30"/>
          <p:cNvSpPr txBox="1"/>
          <p:nvPr/>
        </p:nvSpPr>
        <p:spPr>
          <a:xfrm>
            <a:off x="731520" y="1371600"/>
            <a:ext cx="10728960" cy="1371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5400" b="1" dirty="0">
                <a:solidFill>
                  <a:srgbClr val="0F1F1A"/>
                </a:solidFill>
                <a:latin typeface="Arial" pitchFamily="34" charset="0"/>
              </a:rPr>
              <a:t>Meet Mish Senior.</a:t>
            </a:r>
          </a:p>
        </p:txBody>
      </p:sp>
      <p:sp>
        <p:nvSpPr>
          <p:cNvPr id="31" name="T31"/>
          <p:cNvSpPr txBox="1"/>
          <p:nvPr/>
        </p:nvSpPr>
        <p:spPr>
          <a:xfrm>
            <a:off x="731520" y="2651760"/>
            <a:ext cx="10728960" cy="13716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3000" b="1" dirty="0">
                <a:solidFill>
                  <a:srgbClr val="0F9F6E"/>
                </a:solidFill>
                <a:latin typeface="Arial" pitchFamily="34" charset="0"/>
              </a:rPr>
              <a:t>The platform that turns fresh IT graduates into hire-ready candidates.</a:t>
            </a:r>
          </a:p>
        </p:txBody>
      </p:sp>
      <p:sp>
        <p:nvSpPr>
          <p:cNvPr id="32" name="T32"/>
          <p:cNvSpPr txBox="1"/>
          <p:nvPr/>
        </p:nvSpPr>
        <p:spPr>
          <a:xfrm>
            <a:off x="731520" y="4114800"/>
            <a:ext cx="10728960" cy="1600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r>
              <a:rPr lang="en-US" sz="2200" b="0" dirty="0">
                <a:solidFill>
                  <a:srgbClr val="5F6F68"/>
                </a:solidFill>
                <a:latin typeface="Arial" pitchFamily="34" charset="0"/>
              </a:rPr>
              <a:t>Graduates prove their skills through assessments and AI voice interviews. Companies find proven talent and hire with confidence.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2026-10-11T09:53:18Z</dcterms:created>
  <dcterms:modified xsi:type="dcterms:W3CDTF">2026-10-11T09:53:18Z</dcterms:modified>
</cp:coreProperties>
</file>